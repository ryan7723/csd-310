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12"/>
  </p:notesMasterIdLst>
  <p:handoutMasterIdLst>
    <p:handoutMasterId r:id="rId13"/>
  </p:handout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9" d="100"/>
          <a:sy n="139" d="100"/>
        </p:scale>
        <p:origin x="804" y="12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E9B273D-774B-1A53-3852-7AE3FCF20B9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9E1F56D-AFEE-29FB-BFD9-B750938A2F9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5D21FE8-B337-4BDA-A5A6-AE7D97A45477}" type="datetimeFigureOut">
              <a:rPr lang="en-US" smtClean="0"/>
              <a:t>3/15/2026</a:t>
            </a:fld>
            <a:endParaRPr lang="en-US"/>
          </a:p>
        </p:txBody>
      </p:sp>
      <p:sp>
        <p:nvSpPr>
          <p:cNvPr id="4" name="Footer Placeholder 3">
            <a:extLst>
              <a:ext uri="{FF2B5EF4-FFF2-40B4-BE49-F238E27FC236}">
                <a16:creationId xmlns:a16="http://schemas.microsoft.com/office/drawing/2014/main" id="{C54463E0-7F23-5BBD-634E-148DAAFC5DA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Outland Adventures</a:t>
            </a:r>
          </a:p>
        </p:txBody>
      </p:sp>
      <p:sp>
        <p:nvSpPr>
          <p:cNvPr id="5" name="Slide Number Placeholder 4">
            <a:extLst>
              <a:ext uri="{FF2B5EF4-FFF2-40B4-BE49-F238E27FC236}">
                <a16:creationId xmlns:a16="http://schemas.microsoft.com/office/drawing/2014/main" id="{41A55229-66DB-7893-CA15-897177826A0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57D8042-53BD-40D7-A43B-BA0C1E7540D2}" type="slidenum">
              <a:rPr lang="en-US" smtClean="0"/>
              <a:t>‹#›</a:t>
            </a:fld>
            <a:endParaRPr lang="en-US"/>
          </a:p>
        </p:txBody>
      </p:sp>
    </p:spTree>
    <p:extLst>
      <p:ext uri="{BB962C8B-B14F-4D97-AF65-F5344CB8AC3E}">
        <p14:creationId xmlns:p14="http://schemas.microsoft.com/office/powerpoint/2010/main" val="157583228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hd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cde59e7abd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cde59e7abd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cde59e7abd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cde59e7abd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cde59e7abd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cde59e7abd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cde59e7abd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cde59e7abd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cde59e7abd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cde59e7abd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cde59e7abd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cde59e7abd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cde59e7abd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cde59e7abd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de59e7abd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cde59e7abd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cde59e7abd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cde59e7abd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5815"/>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3.jp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6.jpg"/><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4.jp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solidFill>
                  <a:schemeClr val="lt1"/>
                </a:solidFill>
              </a:rPr>
              <a:t>Outland Adventures Database Design</a:t>
            </a:r>
            <a:endParaRPr>
              <a:solidFill>
                <a:schemeClr val="lt1"/>
              </a:solidFill>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fontScale="25000" lnSpcReduction="20000"/>
          </a:bodyPr>
          <a:lstStyle/>
          <a:p>
            <a:pPr marL="0" lvl="0" indent="0" algn="ctr" rtl="0">
              <a:spcBef>
                <a:spcPts val="0"/>
              </a:spcBef>
              <a:spcAft>
                <a:spcPts val="0"/>
              </a:spcAft>
              <a:buNone/>
            </a:pPr>
            <a:r>
              <a:rPr lang="en" sz="7415">
                <a:solidFill>
                  <a:schemeClr val="lt1"/>
                </a:solidFill>
              </a:rPr>
              <a:t>Group Members:</a:t>
            </a:r>
            <a:endParaRPr sz="7415">
              <a:solidFill>
                <a:schemeClr val="lt1"/>
              </a:solidFill>
            </a:endParaRPr>
          </a:p>
          <a:p>
            <a:pPr marL="0" lvl="0" indent="0" algn="ctr" rtl="0">
              <a:spcBef>
                <a:spcPts val="0"/>
              </a:spcBef>
              <a:spcAft>
                <a:spcPts val="0"/>
              </a:spcAft>
              <a:buNone/>
            </a:pPr>
            <a:r>
              <a:rPr lang="en" sz="7415">
                <a:solidFill>
                  <a:schemeClr val="lt1"/>
                </a:solidFill>
              </a:rPr>
              <a:t>Amanda Brock</a:t>
            </a:r>
            <a:endParaRPr sz="7415">
              <a:solidFill>
                <a:schemeClr val="lt1"/>
              </a:solidFill>
            </a:endParaRPr>
          </a:p>
          <a:p>
            <a:pPr marL="0" lvl="0" indent="0" algn="ctr" rtl="0">
              <a:spcBef>
                <a:spcPts val="0"/>
              </a:spcBef>
              <a:spcAft>
                <a:spcPts val="0"/>
              </a:spcAft>
              <a:buNone/>
            </a:pPr>
            <a:r>
              <a:rPr lang="en" sz="7415">
                <a:solidFill>
                  <a:schemeClr val="lt1"/>
                </a:solidFill>
              </a:rPr>
              <a:t>Ryan Barber</a:t>
            </a:r>
            <a:endParaRPr sz="7415">
              <a:solidFill>
                <a:schemeClr val="lt1"/>
              </a:solidFill>
            </a:endParaRPr>
          </a:p>
          <a:p>
            <a:pPr marL="0" lvl="0" indent="0" algn="ctr" rtl="0">
              <a:spcBef>
                <a:spcPts val="0"/>
              </a:spcBef>
              <a:spcAft>
                <a:spcPts val="0"/>
              </a:spcAft>
              <a:buNone/>
            </a:pPr>
            <a:r>
              <a:rPr lang="en" sz="7415">
                <a:solidFill>
                  <a:schemeClr val="lt1"/>
                </a:solidFill>
              </a:rPr>
              <a:t>Miguel Fernandez</a:t>
            </a:r>
            <a:endParaRPr sz="7415">
              <a:solidFill>
                <a:schemeClr val="lt1"/>
              </a:solidFill>
            </a:endParaRPr>
          </a:p>
          <a:p>
            <a:pPr marL="0" lvl="0" indent="0" algn="ctr" rtl="0">
              <a:spcBef>
                <a:spcPts val="0"/>
              </a:spcBef>
              <a:spcAft>
                <a:spcPts val="0"/>
              </a:spcAft>
              <a:buNone/>
            </a:pPr>
            <a:endParaRPr>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343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u="sng">
                <a:solidFill>
                  <a:srgbClr val="FFFFFF"/>
                </a:solidFill>
              </a:rPr>
              <a:t>Group Introduction:</a:t>
            </a:r>
            <a:endParaRPr u="sng">
              <a:solidFill>
                <a:srgbClr val="FFFFFF"/>
              </a:solidFill>
            </a:endParaRPr>
          </a:p>
        </p:txBody>
      </p:sp>
      <p:sp>
        <p:nvSpPr>
          <p:cNvPr id="61" name="Google Shape;61;p14"/>
          <p:cNvSpPr txBox="1">
            <a:spLocks noGrp="1"/>
          </p:cNvSpPr>
          <p:nvPr>
            <p:ph type="body" idx="1"/>
          </p:nvPr>
        </p:nvSpPr>
        <p:spPr>
          <a:xfrm>
            <a:off x="311700" y="1152475"/>
            <a:ext cx="8520600" cy="3416400"/>
          </a:xfrm>
          <a:prstGeom prst="rect">
            <a:avLst/>
          </a:prstGeom>
          <a:noFill/>
        </p:spPr>
        <p:txBody>
          <a:bodyPr spcFirstLastPara="1" wrap="square" lIns="91425" tIns="91425" rIns="91425" bIns="91425" anchor="t" anchorCtr="0">
            <a:normAutofit/>
          </a:bodyPr>
          <a:lstStyle/>
          <a:p>
            <a:pPr marL="0" lvl="0" indent="0" algn="ctr" rtl="0">
              <a:spcBef>
                <a:spcPts val="0"/>
              </a:spcBef>
              <a:spcAft>
                <a:spcPts val="1200"/>
              </a:spcAft>
              <a:buNone/>
            </a:pPr>
            <a:r>
              <a:rPr lang="en">
                <a:solidFill>
                  <a:schemeClr val="lt1"/>
                </a:solidFill>
              </a:rPr>
              <a:t>Our team worked to design a database for Outland Adventures case study. The goal was to create a system to manage equipment inventory, rental sales, and help manage trips. Every team member contributed to the design.</a:t>
            </a:r>
            <a:endParaRPr>
              <a:solidFill>
                <a:schemeClr val="lt1"/>
              </a:solidFill>
            </a:endParaRPr>
          </a:p>
        </p:txBody>
      </p:sp>
      <p:pic>
        <p:nvPicPr>
          <p:cNvPr id="62" name="Google Shape;62;p14" descr="Blade Servers Close Up (Provided by Getty Images)"/>
          <p:cNvPicPr preferRelativeResize="0"/>
          <p:nvPr/>
        </p:nvPicPr>
        <p:blipFill>
          <a:blip r:embed="rId4">
            <a:alphaModFix/>
          </a:blip>
          <a:stretch>
            <a:fillRect/>
          </a:stretch>
        </p:blipFill>
        <p:spPr>
          <a:xfrm>
            <a:off x="1252725" y="2347038"/>
            <a:ext cx="3037148" cy="2582525"/>
          </a:xfrm>
          <a:prstGeom prst="rect">
            <a:avLst/>
          </a:prstGeom>
          <a:noFill/>
          <a:ln w="28575" cap="flat" cmpd="sng">
            <a:solidFill>
              <a:srgbClr val="3C78D8"/>
            </a:solidFill>
            <a:prstDash val="solid"/>
            <a:round/>
            <a:headEnd type="none" w="sm" len="sm"/>
            <a:tailEnd type="none" w="sm" len="sm"/>
          </a:ln>
        </p:spPr>
      </p:pic>
      <p:pic>
        <p:nvPicPr>
          <p:cNvPr id="63" name="Google Shape;63;p14" descr="Male server technician walking with laptop in data center room (Provided by Getty Images)"/>
          <p:cNvPicPr preferRelativeResize="0"/>
          <p:nvPr/>
        </p:nvPicPr>
        <p:blipFill>
          <a:blip r:embed="rId5">
            <a:alphaModFix/>
          </a:blip>
          <a:stretch>
            <a:fillRect/>
          </a:stretch>
        </p:blipFill>
        <p:spPr>
          <a:xfrm>
            <a:off x="4882550" y="2347088"/>
            <a:ext cx="3141600" cy="2582400"/>
          </a:xfrm>
          <a:prstGeom prst="rect">
            <a:avLst/>
          </a:prstGeom>
          <a:noFill/>
          <a:ln w="28575" cap="flat" cmpd="sng">
            <a:solidFill>
              <a:srgbClr val="3C78D8"/>
            </a:solidFill>
            <a:prstDash val="solid"/>
            <a:round/>
            <a:headEnd type="none" w="sm" len="sm"/>
            <a:tailEnd type="none" w="sm" len="sm"/>
          </a:ln>
        </p:spPr>
      </p:pic>
      <p:sp>
        <p:nvSpPr>
          <p:cNvPr id="64" name="Google Shape;64;p14"/>
          <p:cNvSpPr txBox="1"/>
          <p:nvPr/>
        </p:nvSpPr>
        <p:spPr>
          <a:xfrm>
            <a:off x="290850" y="293000"/>
            <a:ext cx="246000" cy="10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65" name="Google Shape;65;p14"/>
          <p:cNvSpPr txBox="1"/>
          <p:nvPr/>
        </p:nvSpPr>
        <p:spPr>
          <a:xfrm>
            <a:off x="8898000" y="4725025"/>
            <a:ext cx="246000" cy="31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dirty="0">
              <a:solidFill>
                <a:schemeClr val="lt1"/>
              </a:solidFill>
            </a:endParaRPr>
          </a:p>
        </p:txBody>
      </p:sp>
      <p:sp>
        <p:nvSpPr>
          <p:cNvPr id="66" name="Google Shape;66;p14"/>
          <p:cNvSpPr txBox="1"/>
          <p:nvPr/>
        </p:nvSpPr>
        <p:spPr>
          <a:xfrm>
            <a:off x="77000" y="4714325"/>
            <a:ext cx="855300" cy="10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dirty="0">
              <a:solidFill>
                <a:schemeClr val="lt1"/>
              </a:solidFill>
            </a:endParaRPr>
          </a:p>
        </p:txBody>
      </p:sp>
      <p:sp>
        <p:nvSpPr>
          <p:cNvPr id="2" name="Slide Number Placeholder 1">
            <a:extLst>
              <a:ext uri="{FF2B5EF4-FFF2-40B4-BE49-F238E27FC236}">
                <a16:creationId xmlns:a16="http://schemas.microsoft.com/office/drawing/2014/main" id="{5A586C2E-DFDA-EFD7-0597-F540F5CF349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311700" y="445025"/>
            <a:ext cx="8520600" cy="572700"/>
          </a:xfrm>
          <a:prstGeom prst="rect">
            <a:avLst/>
          </a:prstGeom>
          <a:no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u="sng">
                <a:solidFill>
                  <a:srgbClr val="FFFFFF"/>
                </a:solidFill>
              </a:rPr>
              <a:t>Case Study Overview:</a:t>
            </a:r>
            <a:endParaRPr u="sng">
              <a:solidFill>
                <a:srgbClr val="FFFFFF"/>
              </a:solidFill>
            </a:endParaRPr>
          </a:p>
        </p:txBody>
      </p:sp>
      <p:sp>
        <p:nvSpPr>
          <p:cNvPr id="72" name="Google Shape;72;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solidFill>
                  <a:srgbClr val="FFFFFF"/>
                </a:solidFill>
              </a:rPr>
              <a:t>Outland Adventures is a company founded by Blythe Timmerson and Jim Ford that organizes hiking and camping trips in various parts of the world and also rents equipment to its clients.</a:t>
            </a:r>
            <a:endParaRPr>
              <a:solidFill>
                <a:srgbClr val="FFFFFF"/>
              </a:solidFill>
            </a:endParaRPr>
          </a:p>
          <a:p>
            <a:pPr marL="0" lvl="0" indent="0" algn="ctr" rtl="0">
              <a:spcBef>
                <a:spcPts val="1200"/>
              </a:spcBef>
              <a:spcAft>
                <a:spcPts val="0"/>
              </a:spcAft>
              <a:buNone/>
            </a:pPr>
            <a:r>
              <a:rPr lang="en">
                <a:solidFill>
                  <a:srgbClr val="FFFFFF"/>
                </a:solidFill>
              </a:rPr>
              <a:t>As the company grew, they needed a system to track:</a:t>
            </a:r>
            <a:endParaRPr>
              <a:solidFill>
                <a:srgbClr val="FFFFFF"/>
              </a:solidFill>
            </a:endParaRPr>
          </a:p>
          <a:p>
            <a:pPr marL="457200" lvl="0" indent="-342900" algn="ctr" rtl="0">
              <a:spcBef>
                <a:spcPts val="1200"/>
              </a:spcBef>
              <a:spcAft>
                <a:spcPts val="0"/>
              </a:spcAft>
              <a:buClr>
                <a:srgbClr val="FFFFFF"/>
              </a:buClr>
              <a:buSzPts val="1800"/>
              <a:buChar char="●"/>
            </a:pPr>
            <a:r>
              <a:rPr lang="en">
                <a:solidFill>
                  <a:srgbClr val="FFFFFF"/>
                </a:solidFill>
                <a:highlight>
                  <a:srgbClr val="1155CC"/>
                </a:highlight>
              </a:rPr>
              <a:t>Employees responsible for organizing trips</a:t>
            </a:r>
            <a:endParaRPr>
              <a:solidFill>
                <a:srgbClr val="FFFFFF"/>
              </a:solidFill>
              <a:highlight>
                <a:srgbClr val="1155CC"/>
              </a:highlight>
            </a:endParaRPr>
          </a:p>
          <a:p>
            <a:pPr marL="457200" lvl="0" indent="-342900" algn="ctr" rtl="0">
              <a:spcBef>
                <a:spcPts val="0"/>
              </a:spcBef>
              <a:spcAft>
                <a:spcPts val="0"/>
              </a:spcAft>
              <a:buClr>
                <a:srgbClr val="FFFFFF"/>
              </a:buClr>
              <a:buSzPts val="1800"/>
              <a:buChar char="●"/>
            </a:pPr>
            <a:r>
              <a:rPr lang="en">
                <a:solidFill>
                  <a:srgbClr val="FFFFFF"/>
                </a:solidFill>
                <a:highlight>
                  <a:srgbClr val="1155CC"/>
                </a:highlight>
              </a:rPr>
              <a:t>Inventory</a:t>
            </a:r>
            <a:endParaRPr>
              <a:solidFill>
                <a:srgbClr val="FFFFFF"/>
              </a:solidFill>
              <a:highlight>
                <a:srgbClr val="1155CC"/>
              </a:highlight>
            </a:endParaRPr>
          </a:p>
          <a:p>
            <a:pPr marL="457200" lvl="0" indent="-342900" algn="ctr" rtl="0">
              <a:spcBef>
                <a:spcPts val="0"/>
              </a:spcBef>
              <a:spcAft>
                <a:spcPts val="0"/>
              </a:spcAft>
              <a:buClr>
                <a:srgbClr val="FFFFFF"/>
              </a:buClr>
              <a:buSzPts val="1800"/>
              <a:buChar char="●"/>
            </a:pPr>
            <a:r>
              <a:rPr lang="en">
                <a:solidFill>
                  <a:srgbClr val="FFFFFF"/>
                </a:solidFill>
                <a:highlight>
                  <a:srgbClr val="1155CC"/>
                </a:highlight>
              </a:rPr>
              <a:t>Equipment sales and rentals</a:t>
            </a:r>
            <a:endParaRPr>
              <a:solidFill>
                <a:srgbClr val="FFFFFF"/>
              </a:solidFill>
              <a:highlight>
                <a:srgbClr val="1155CC"/>
              </a:highlight>
            </a:endParaRPr>
          </a:p>
          <a:p>
            <a:pPr marL="457200" lvl="0" indent="-342900" algn="ctr" rtl="0">
              <a:spcBef>
                <a:spcPts val="0"/>
              </a:spcBef>
              <a:spcAft>
                <a:spcPts val="0"/>
              </a:spcAft>
              <a:buClr>
                <a:srgbClr val="FFFFFF"/>
              </a:buClr>
              <a:buSzPts val="1800"/>
              <a:buChar char="●"/>
            </a:pPr>
            <a:r>
              <a:rPr lang="en">
                <a:solidFill>
                  <a:srgbClr val="FFFFFF"/>
                </a:solidFill>
                <a:highlight>
                  <a:srgbClr val="1155CC"/>
                </a:highlight>
              </a:rPr>
              <a:t>Bookings and customers</a:t>
            </a:r>
            <a:endParaRPr>
              <a:solidFill>
                <a:srgbClr val="FFFFFF"/>
              </a:solidFill>
              <a:highlight>
                <a:srgbClr val="1155CC"/>
              </a:highlight>
            </a:endParaRPr>
          </a:p>
          <a:p>
            <a:pPr marL="457200" lvl="0" indent="-342900" algn="ctr" rtl="0">
              <a:spcBef>
                <a:spcPts val="0"/>
              </a:spcBef>
              <a:spcAft>
                <a:spcPts val="0"/>
              </a:spcAft>
              <a:buClr>
                <a:srgbClr val="FFFFFF"/>
              </a:buClr>
              <a:buSzPts val="1800"/>
              <a:buChar char="●"/>
            </a:pPr>
            <a:r>
              <a:rPr lang="en">
                <a:solidFill>
                  <a:srgbClr val="FFFFFF"/>
                </a:solidFill>
                <a:highlight>
                  <a:srgbClr val="1155CC"/>
                </a:highlight>
              </a:rPr>
              <a:t> Locations and trip schedules</a:t>
            </a:r>
            <a:endParaRPr>
              <a:solidFill>
                <a:srgbClr val="FFFFFF"/>
              </a:solidFill>
              <a:highlight>
                <a:srgbClr val="1155CC"/>
              </a:highlight>
            </a:endParaRPr>
          </a:p>
        </p:txBody>
      </p:sp>
      <p:pic>
        <p:nvPicPr>
          <p:cNvPr id="73" name="Google Shape;73;p15" descr="Hands with clipboard  Color (Provided by Getty Images)"/>
          <p:cNvPicPr preferRelativeResize="0"/>
          <p:nvPr/>
        </p:nvPicPr>
        <p:blipFill>
          <a:blip r:embed="rId4">
            <a:alphaModFix/>
          </a:blip>
          <a:stretch>
            <a:fillRect/>
          </a:stretch>
        </p:blipFill>
        <p:spPr>
          <a:xfrm>
            <a:off x="311700" y="3041200"/>
            <a:ext cx="1794524" cy="1377974"/>
          </a:xfrm>
          <a:prstGeom prst="rect">
            <a:avLst/>
          </a:prstGeom>
          <a:noFill/>
          <a:ln w="28575" cap="flat" cmpd="sng">
            <a:solidFill>
              <a:srgbClr val="3C78D8"/>
            </a:solidFill>
            <a:prstDash val="solid"/>
            <a:round/>
            <a:headEnd type="none" w="sm" len="sm"/>
            <a:tailEnd type="none" w="sm" len="sm"/>
          </a:ln>
        </p:spPr>
      </p:pic>
      <p:sp>
        <p:nvSpPr>
          <p:cNvPr id="74" name="Google Shape;74;p15"/>
          <p:cNvSpPr txBox="1"/>
          <p:nvPr/>
        </p:nvSpPr>
        <p:spPr>
          <a:xfrm>
            <a:off x="8885750" y="4686500"/>
            <a:ext cx="310200" cy="17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dirty="0">
              <a:solidFill>
                <a:schemeClr val="lt1"/>
              </a:solidFill>
            </a:endParaRPr>
          </a:p>
        </p:txBody>
      </p:sp>
      <p:sp>
        <p:nvSpPr>
          <p:cNvPr id="2" name="Slide Number Placeholder 1">
            <a:extLst>
              <a:ext uri="{FF2B5EF4-FFF2-40B4-BE49-F238E27FC236}">
                <a16:creationId xmlns:a16="http://schemas.microsoft.com/office/drawing/2014/main" id="{9E558B40-CDFB-9909-AB55-AC8446E5D6D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9"/>
        <p:cNvGrpSpPr/>
        <p:nvPr/>
      </p:nvGrpSpPr>
      <p:grpSpPr>
        <a:xfrm>
          <a:off x="0" y="0"/>
          <a:ext cx="0" cy="0"/>
          <a:chOff x="0" y="0"/>
          <a:chExt cx="0" cy="0"/>
        </a:xfrm>
      </p:grpSpPr>
      <p:sp>
        <p:nvSpPr>
          <p:cNvPr id="80" name="Google Shape;80;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u="sng">
                <a:solidFill>
                  <a:srgbClr val="FFFFFF"/>
                </a:solidFill>
              </a:rPr>
              <a:t>Business Questions:</a:t>
            </a:r>
            <a:endParaRPr u="sng">
              <a:solidFill>
                <a:srgbClr val="FFFFFF"/>
              </a:solidFill>
            </a:endParaRPr>
          </a:p>
        </p:txBody>
      </p:sp>
      <p:sp>
        <p:nvSpPr>
          <p:cNvPr id="81" name="Google Shape;81;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Clr>
                <a:schemeClr val="dk1"/>
              </a:buClr>
              <a:buSzPts val="1100"/>
              <a:buFont typeface="Arial"/>
              <a:buNone/>
            </a:pPr>
            <a:r>
              <a:rPr lang="en">
                <a:solidFill>
                  <a:schemeClr val="lt1"/>
                </a:solidFill>
              </a:rPr>
              <a:t>The owners want to answer these questions to improve their operations:</a:t>
            </a:r>
            <a:endParaRPr>
              <a:solidFill>
                <a:schemeClr val="lt1"/>
              </a:solidFill>
            </a:endParaRPr>
          </a:p>
          <a:p>
            <a:pPr marL="457200" lvl="0" indent="-342900" algn="ctr" rtl="0">
              <a:spcBef>
                <a:spcPts val="1200"/>
              </a:spcBef>
              <a:spcAft>
                <a:spcPts val="0"/>
              </a:spcAft>
              <a:buClr>
                <a:schemeClr val="lt1"/>
              </a:buClr>
              <a:buSzPts val="1800"/>
              <a:buChar char="●"/>
            </a:pPr>
            <a:r>
              <a:rPr lang="en">
                <a:solidFill>
                  <a:schemeClr val="lt1"/>
                </a:solidFill>
                <a:highlight>
                  <a:srgbClr val="1155CC"/>
                </a:highlight>
              </a:rPr>
              <a:t>Do enough customers buy equipment to justify selling it?</a:t>
            </a:r>
            <a:endParaRPr>
              <a:solidFill>
                <a:schemeClr val="lt1"/>
              </a:solidFill>
              <a:highlight>
                <a:srgbClr val="1155CC"/>
              </a:highlight>
            </a:endParaRPr>
          </a:p>
          <a:p>
            <a:pPr marL="457200" lvl="0" indent="-342900" algn="ctr" rtl="0">
              <a:spcBef>
                <a:spcPts val="0"/>
              </a:spcBef>
              <a:spcAft>
                <a:spcPts val="0"/>
              </a:spcAft>
              <a:buClr>
                <a:schemeClr val="lt1"/>
              </a:buClr>
              <a:buSzPts val="1800"/>
              <a:buChar char="●"/>
            </a:pPr>
            <a:r>
              <a:rPr lang="en">
                <a:solidFill>
                  <a:schemeClr val="lt1"/>
                </a:solidFill>
                <a:highlight>
                  <a:srgbClr val="1155CC"/>
                </a:highlight>
              </a:rPr>
              <a:t>Is there any location with decreasing trip bookings?</a:t>
            </a:r>
            <a:endParaRPr>
              <a:solidFill>
                <a:schemeClr val="lt1"/>
              </a:solidFill>
              <a:highlight>
                <a:srgbClr val="1155CC"/>
              </a:highlight>
            </a:endParaRPr>
          </a:p>
          <a:p>
            <a:pPr marL="457200" lvl="0" indent="-342900" algn="ctr" rtl="0">
              <a:spcBef>
                <a:spcPts val="0"/>
              </a:spcBef>
              <a:spcAft>
                <a:spcPts val="0"/>
              </a:spcAft>
              <a:buClr>
                <a:schemeClr val="lt1"/>
              </a:buClr>
              <a:buSzPts val="1800"/>
              <a:buChar char="●"/>
            </a:pPr>
            <a:r>
              <a:rPr lang="en">
                <a:solidFill>
                  <a:schemeClr val="lt1"/>
                </a:solidFill>
                <a:highlight>
                  <a:srgbClr val="1155CC"/>
                </a:highlight>
              </a:rPr>
              <a:t>Are there inventory items older than five years that should be replace?</a:t>
            </a:r>
            <a:endParaRPr>
              <a:solidFill>
                <a:schemeClr val="lt1"/>
              </a:solidFill>
              <a:highlight>
                <a:srgbClr val="1155CC"/>
              </a:highlight>
            </a:endParaRPr>
          </a:p>
          <a:p>
            <a:pPr marL="0" lvl="0" indent="0" algn="ctr" rtl="0">
              <a:spcBef>
                <a:spcPts val="1200"/>
              </a:spcBef>
              <a:spcAft>
                <a:spcPts val="0"/>
              </a:spcAft>
              <a:buNone/>
            </a:pPr>
            <a:r>
              <a:rPr lang="en">
                <a:solidFill>
                  <a:schemeClr val="lt1"/>
                </a:solidFill>
              </a:rPr>
              <a:t>Our database and reports were designed to answer these questions.</a:t>
            </a:r>
            <a:endParaRPr>
              <a:solidFill>
                <a:schemeClr val="lt1"/>
              </a:solidFill>
            </a:endParaRPr>
          </a:p>
          <a:p>
            <a:pPr marL="0" lvl="0" indent="0" algn="l" rtl="0">
              <a:spcBef>
                <a:spcPts val="1200"/>
              </a:spcBef>
              <a:spcAft>
                <a:spcPts val="1200"/>
              </a:spcAft>
              <a:buNone/>
            </a:pPr>
            <a:r>
              <a:rPr lang="en"/>
              <a:t>?</a:t>
            </a:r>
            <a:endParaRPr/>
          </a:p>
        </p:txBody>
      </p:sp>
      <p:pic>
        <p:nvPicPr>
          <p:cNvPr id="82" name="Google Shape;82;p16" descr="Businessmen shaking hands on up and down arrows (Provided by Getty Images)"/>
          <p:cNvPicPr preferRelativeResize="0"/>
          <p:nvPr/>
        </p:nvPicPr>
        <p:blipFill>
          <a:blip r:embed="rId4">
            <a:alphaModFix/>
          </a:blip>
          <a:stretch>
            <a:fillRect/>
          </a:stretch>
        </p:blipFill>
        <p:spPr>
          <a:xfrm>
            <a:off x="1660550" y="3219000"/>
            <a:ext cx="2594473" cy="1600224"/>
          </a:xfrm>
          <a:prstGeom prst="rect">
            <a:avLst/>
          </a:prstGeom>
          <a:noFill/>
          <a:ln w="28575" cap="flat" cmpd="sng">
            <a:solidFill>
              <a:srgbClr val="3C78D8"/>
            </a:solidFill>
            <a:prstDash val="solid"/>
            <a:round/>
            <a:headEnd type="none" w="sm" len="sm"/>
            <a:tailEnd type="none" w="sm" len="sm"/>
          </a:ln>
        </p:spPr>
      </p:pic>
      <p:pic>
        <p:nvPicPr>
          <p:cNvPr id="83" name="Google Shape;83;p16" descr="Business Presentation with Information and Stats (Provided by Getty Images)"/>
          <p:cNvPicPr preferRelativeResize="0"/>
          <p:nvPr/>
        </p:nvPicPr>
        <p:blipFill>
          <a:blip r:embed="rId5">
            <a:alphaModFix/>
          </a:blip>
          <a:stretch>
            <a:fillRect/>
          </a:stretch>
        </p:blipFill>
        <p:spPr>
          <a:xfrm>
            <a:off x="4988850" y="3219000"/>
            <a:ext cx="2663301" cy="1600224"/>
          </a:xfrm>
          <a:prstGeom prst="rect">
            <a:avLst/>
          </a:prstGeom>
          <a:noFill/>
          <a:ln w="28575" cap="flat" cmpd="sng">
            <a:solidFill>
              <a:srgbClr val="3C78D8"/>
            </a:solidFill>
            <a:prstDash val="solid"/>
            <a:round/>
            <a:headEnd type="none" w="sm" len="sm"/>
            <a:tailEnd type="none" w="sm" len="sm"/>
          </a:ln>
        </p:spPr>
      </p:pic>
      <p:sp>
        <p:nvSpPr>
          <p:cNvPr id="84" name="Google Shape;84;p16"/>
          <p:cNvSpPr txBox="1"/>
          <p:nvPr/>
        </p:nvSpPr>
        <p:spPr>
          <a:xfrm>
            <a:off x="8887500" y="4725000"/>
            <a:ext cx="256500" cy="29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dirty="0">
              <a:solidFill>
                <a:schemeClr val="lt1"/>
              </a:solidFill>
            </a:endParaRPr>
          </a:p>
        </p:txBody>
      </p:sp>
      <p:sp>
        <p:nvSpPr>
          <p:cNvPr id="2" name="Slide Number Placeholder 1">
            <a:extLst>
              <a:ext uri="{FF2B5EF4-FFF2-40B4-BE49-F238E27FC236}">
                <a16:creationId xmlns:a16="http://schemas.microsoft.com/office/drawing/2014/main" id="{97B8FD33-EA53-4D84-A189-AC209E8EA5A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9"/>
        <p:cNvGrpSpPr/>
        <p:nvPr/>
      </p:nvGrpSpPr>
      <p:grpSpPr>
        <a:xfrm>
          <a:off x="0" y="0"/>
          <a:ext cx="0" cy="0"/>
          <a:chOff x="0" y="0"/>
          <a:chExt cx="0" cy="0"/>
        </a:xfrm>
      </p:grpSpPr>
      <p:sp>
        <p:nvSpPr>
          <p:cNvPr id="90" name="Google Shape;90;p17"/>
          <p:cNvSpPr txBox="1">
            <a:spLocks noGrp="1"/>
          </p:cNvSpPr>
          <p:nvPr>
            <p:ph type="title"/>
          </p:nvPr>
        </p:nvSpPr>
        <p:spPr>
          <a:xfrm>
            <a:off x="131725" y="0"/>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 sz="2820" u="sng">
                <a:solidFill>
                  <a:srgbClr val="FFFFFF"/>
                </a:solidFill>
              </a:rPr>
              <a:t>Final ERD:</a:t>
            </a:r>
            <a:endParaRPr sz="2820" u="sng">
              <a:solidFill>
                <a:srgbClr val="FFFFFF"/>
              </a:solidFill>
            </a:endParaRPr>
          </a:p>
        </p:txBody>
      </p:sp>
      <p:sp>
        <p:nvSpPr>
          <p:cNvPr id="91" name="Google Shape;91;p17"/>
          <p:cNvSpPr txBox="1">
            <a:spLocks noGrp="1"/>
          </p:cNvSpPr>
          <p:nvPr>
            <p:ph type="body" idx="1"/>
          </p:nvPr>
        </p:nvSpPr>
        <p:spPr>
          <a:xfrm>
            <a:off x="6531275" y="0"/>
            <a:ext cx="2668800" cy="5143500"/>
          </a:xfrm>
          <a:prstGeom prst="rect">
            <a:avLst/>
          </a:prstGeom>
          <a:solidFill>
            <a:srgbClr val="1155CC"/>
          </a:solidFill>
          <a:ln w="9525" cap="flat" cmpd="sng">
            <a:solidFill>
              <a:srgbClr val="1155CC"/>
            </a:solidFill>
            <a:prstDash val="solid"/>
            <a:round/>
            <a:headEnd type="none" w="sm" len="sm"/>
            <a:tailEnd type="none" w="sm" len="sm"/>
          </a:ln>
        </p:spPr>
        <p:txBody>
          <a:bodyPr spcFirstLastPara="1" wrap="square" lIns="91425" tIns="91425" rIns="91425" bIns="91425" anchor="t" anchorCtr="0">
            <a:normAutofit/>
          </a:bodyPr>
          <a:lstStyle/>
          <a:p>
            <a:pPr marL="0" lvl="0" indent="0" algn="ctr" rtl="0">
              <a:spcBef>
                <a:spcPts val="0"/>
              </a:spcBef>
              <a:spcAft>
                <a:spcPts val="0"/>
              </a:spcAft>
              <a:buNone/>
            </a:pPr>
            <a:r>
              <a:rPr lang="en" sz="1200" u="sng" dirty="0">
                <a:solidFill>
                  <a:srgbClr val="FFFFFF"/>
                </a:solidFill>
              </a:rPr>
              <a:t>Main Entities:</a:t>
            </a:r>
            <a:endParaRPr sz="1200" u="sng" dirty="0">
              <a:solidFill>
                <a:srgbClr val="FFFFFF"/>
              </a:solidFill>
            </a:endParaRPr>
          </a:p>
          <a:p>
            <a:pPr marL="457200" lvl="0" indent="-315912" algn="l" rtl="0">
              <a:spcBef>
                <a:spcPts val="1200"/>
              </a:spcBef>
              <a:spcAft>
                <a:spcPts val="0"/>
              </a:spcAft>
              <a:buClr>
                <a:schemeClr val="lt1"/>
              </a:buClr>
              <a:buSzPct val="100000"/>
              <a:buChar char="●"/>
            </a:pPr>
            <a:r>
              <a:rPr lang="en" sz="1200" dirty="0">
                <a:solidFill>
                  <a:schemeClr val="lt1"/>
                </a:solidFill>
              </a:rPr>
              <a:t>TRIP_ASSIGNMENT</a:t>
            </a:r>
            <a:endParaRPr sz="1200" dirty="0">
              <a:solidFill>
                <a:schemeClr val="lt1"/>
              </a:solidFill>
            </a:endParaRPr>
          </a:p>
          <a:p>
            <a:pPr marL="457200" lvl="0" indent="-315912" algn="l" rtl="0">
              <a:spcBef>
                <a:spcPts val="0"/>
              </a:spcBef>
              <a:spcAft>
                <a:spcPts val="0"/>
              </a:spcAft>
              <a:buClr>
                <a:schemeClr val="lt1"/>
              </a:buClr>
              <a:buSzPct val="100000"/>
              <a:buChar char="●"/>
            </a:pPr>
            <a:r>
              <a:rPr lang="en" sz="1200" dirty="0">
                <a:solidFill>
                  <a:schemeClr val="lt1"/>
                </a:solidFill>
              </a:rPr>
              <a:t>ORDER_LINE</a:t>
            </a:r>
            <a:endParaRPr sz="1200" dirty="0">
              <a:solidFill>
                <a:schemeClr val="lt1"/>
              </a:solidFill>
            </a:endParaRPr>
          </a:p>
          <a:p>
            <a:pPr marL="457200" lvl="0" indent="-315912" algn="l" rtl="0">
              <a:spcBef>
                <a:spcPts val="0"/>
              </a:spcBef>
              <a:spcAft>
                <a:spcPts val="0"/>
              </a:spcAft>
              <a:buClr>
                <a:schemeClr val="lt1"/>
              </a:buClr>
              <a:buSzPct val="100000"/>
              <a:buChar char="●"/>
            </a:pPr>
            <a:r>
              <a:rPr lang="en" sz="1200" dirty="0">
                <a:solidFill>
                  <a:schemeClr val="lt1"/>
                </a:solidFill>
              </a:rPr>
              <a:t>CUSTOMER_ORDER</a:t>
            </a:r>
            <a:endParaRPr sz="1200" dirty="0">
              <a:solidFill>
                <a:schemeClr val="lt1"/>
              </a:solidFill>
            </a:endParaRPr>
          </a:p>
          <a:p>
            <a:pPr marL="457200" lvl="0" indent="-315912" algn="l" rtl="0">
              <a:spcBef>
                <a:spcPts val="0"/>
              </a:spcBef>
              <a:spcAft>
                <a:spcPts val="0"/>
              </a:spcAft>
              <a:buClr>
                <a:schemeClr val="lt1"/>
              </a:buClr>
              <a:buSzPct val="100000"/>
              <a:buChar char="●"/>
            </a:pPr>
            <a:r>
              <a:rPr lang="en" sz="1200" dirty="0">
                <a:solidFill>
                  <a:schemeClr val="lt1"/>
                </a:solidFill>
              </a:rPr>
              <a:t>INVENTORY_UNIT</a:t>
            </a:r>
            <a:endParaRPr sz="1200" dirty="0">
              <a:solidFill>
                <a:schemeClr val="lt1"/>
              </a:solidFill>
            </a:endParaRPr>
          </a:p>
          <a:p>
            <a:pPr marL="457200" lvl="0" indent="-315912" algn="l" rtl="0">
              <a:spcBef>
                <a:spcPts val="0"/>
              </a:spcBef>
              <a:spcAft>
                <a:spcPts val="0"/>
              </a:spcAft>
              <a:buClr>
                <a:schemeClr val="lt1"/>
              </a:buClr>
              <a:buSzPct val="100000"/>
              <a:buChar char="●"/>
            </a:pPr>
            <a:r>
              <a:rPr lang="en" sz="1200" dirty="0">
                <a:solidFill>
                  <a:schemeClr val="lt1"/>
                </a:solidFill>
              </a:rPr>
              <a:t>PRODUCT</a:t>
            </a:r>
            <a:endParaRPr sz="1200" dirty="0">
              <a:solidFill>
                <a:schemeClr val="lt1"/>
              </a:solidFill>
            </a:endParaRPr>
          </a:p>
          <a:p>
            <a:pPr marL="457200" lvl="0" indent="-315912" algn="l" rtl="0">
              <a:spcBef>
                <a:spcPts val="0"/>
              </a:spcBef>
              <a:spcAft>
                <a:spcPts val="0"/>
              </a:spcAft>
              <a:buClr>
                <a:schemeClr val="lt1"/>
              </a:buClr>
              <a:buSzPct val="100000"/>
              <a:buChar char="●"/>
            </a:pPr>
            <a:r>
              <a:rPr lang="en" sz="1200" dirty="0">
                <a:solidFill>
                  <a:schemeClr val="lt1"/>
                </a:solidFill>
              </a:rPr>
              <a:t>EMPLOYEE</a:t>
            </a:r>
            <a:endParaRPr sz="1200" dirty="0">
              <a:solidFill>
                <a:schemeClr val="lt1"/>
              </a:solidFill>
            </a:endParaRPr>
          </a:p>
          <a:p>
            <a:pPr marL="457200" lvl="0" indent="-315912" algn="l" rtl="0">
              <a:spcBef>
                <a:spcPts val="0"/>
              </a:spcBef>
              <a:spcAft>
                <a:spcPts val="0"/>
              </a:spcAft>
              <a:buClr>
                <a:schemeClr val="lt1"/>
              </a:buClr>
              <a:buSzPct val="100000"/>
              <a:buChar char="●"/>
            </a:pPr>
            <a:r>
              <a:rPr lang="en" sz="1200" dirty="0">
                <a:solidFill>
                  <a:schemeClr val="lt1"/>
                </a:solidFill>
              </a:rPr>
              <a:t>BOOKING</a:t>
            </a:r>
            <a:endParaRPr sz="1200" dirty="0">
              <a:solidFill>
                <a:schemeClr val="lt1"/>
              </a:solidFill>
            </a:endParaRPr>
          </a:p>
          <a:p>
            <a:pPr marL="457200" lvl="0" indent="-315912" algn="l" rtl="0">
              <a:spcBef>
                <a:spcPts val="0"/>
              </a:spcBef>
              <a:spcAft>
                <a:spcPts val="0"/>
              </a:spcAft>
              <a:buClr>
                <a:schemeClr val="lt1"/>
              </a:buClr>
              <a:buSzPct val="100000"/>
              <a:buChar char="●"/>
            </a:pPr>
            <a:r>
              <a:rPr lang="en" sz="1200" dirty="0">
                <a:solidFill>
                  <a:schemeClr val="lt1"/>
                </a:solidFill>
              </a:rPr>
              <a:t>CUSTOMER</a:t>
            </a:r>
            <a:endParaRPr sz="1200" dirty="0">
              <a:solidFill>
                <a:schemeClr val="lt1"/>
              </a:solidFill>
            </a:endParaRPr>
          </a:p>
          <a:p>
            <a:pPr marL="457200" lvl="0" indent="-315912" algn="l" rtl="0">
              <a:spcBef>
                <a:spcPts val="0"/>
              </a:spcBef>
              <a:spcAft>
                <a:spcPts val="0"/>
              </a:spcAft>
              <a:buClr>
                <a:schemeClr val="lt1"/>
              </a:buClr>
              <a:buSzPct val="100000"/>
              <a:buChar char="●"/>
            </a:pPr>
            <a:r>
              <a:rPr lang="en" sz="1200" dirty="0">
                <a:solidFill>
                  <a:schemeClr val="lt1"/>
                </a:solidFill>
              </a:rPr>
              <a:t>TRIP</a:t>
            </a:r>
            <a:endParaRPr sz="1200" dirty="0">
              <a:solidFill>
                <a:schemeClr val="lt1"/>
              </a:solidFill>
            </a:endParaRPr>
          </a:p>
          <a:p>
            <a:pPr marL="457200" lvl="0" indent="-315912" algn="l" rtl="0">
              <a:spcBef>
                <a:spcPts val="0"/>
              </a:spcBef>
              <a:spcAft>
                <a:spcPts val="0"/>
              </a:spcAft>
              <a:buClr>
                <a:schemeClr val="lt1"/>
              </a:buClr>
              <a:buSzPct val="100000"/>
              <a:buChar char="●"/>
            </a:pPr>
            <a:r>
              <a:rPr lang="en" sz="1200" dirty="0">
                <a:solidFill>
                  <a:schemeClr val="lt1"/>
                </a:solidFill>
              </a:rPr>
              <a:t>LOCATION</a:t>
            </a:r>
            <a:endParaRPr sz="1200" dirty="0">
              <a:solidFill>
                <a:schemeClr val="lt1"/>
              </a:solidFill>
            </a:endParaRPr>
          </a:p>
          <a:p>
            <a:pPr marL="0" lvl="0" indent="0" algn="l" rtl="0">
              <a:spcBef>
                <a:spcPts val="1200"/>
              </a:spcBef>
              <a:spcAft>
                <a:spcPts val="0"/>
              </a:spcAft>
              <a:buNone/>
            </a:pPr>
            <a:r>
              <a:rPr lang="en" sz="1200" dirty="0">
                <a:solidFill>
                  <a:srgbClr val="FFFFFF"/>
                </a:solidFill>
              </a:rPr>
              <a:t>These entities allow the system to track trips, customers, employees, equipment inventory, and purchases or rentals.</a:t>
            </a:r>
            <a:endParaRPr sz="1200" dirty="0">
              <a:solidFill>
                <a:srgbClr val="FFFFFF"/>
              </a:solidFill>
            </a:endParaRPr>
          </a:p>
          <a:p>
            <a:pPr marL="0" lvl="0" indent="0" algn="l" rtl="0">
              <a:spcBef>
                <a:spcPts val="1200"/>
              </a:spcBef>
              <a:spcAft>
                <a:spcPts val="0"/>
              </a:spcAft>
              <a:buClr>
                <a:schemeClr val="dk1"/>
              </a:buClr>
              <a:buSzPct val="91666"/>
              <a:buFont typeface="Arial"/>
              <a:buNone/>
            </a:pPr>
            <a:endParaRPr sz="1200" dirty="0"/>
          </a:p>
          <a:p>
            <a:pPr marL="0" lvl="0" indent="0" algn="l" rtl="0">
              <a:spcBef>
                <a:spcPts val="1200"/>
              </a:spcBef>
              <a:spcAft>
                <a:spcPts val="1200"/>
              </a:spcAft>
              <a:buNone/>
            </a:pPr>
            <a:endParaRPr sz="1200" dirty="0"/>
          </a:p>
        </p:txBody>
      </p:sp>
      <p:pic>
        <p:nvPicPr>
          <p:cNvPr id="92" name="Google Shape;92;p17" title="ERD.png"/>
          <p:cNvPicPr preferRelativeResize="0"/>
          <p:nvPr/>
        </p:nvPicPr>
        <p:blipFill rotWithShape="1">
          <a:blip r:embed="rId4">
            <a:alphaModFix/>
          </a:blip>
          <a:srcRect l="6470" t="8647" r="18903" b="12817"/>
          <a:stretch/>
        </p:blipFill>
        <p:spPr>
          <a:xfrm>
            <a:off x="1007325" y="572700"/>
            <a:ext cx="5384924" cy="4330498"/>
          </a:xfrm>
          <a:prstGeom prst="rect">
            <a:avLst/>
          </a:prstGeom>
          <a:noFill/>
          <a:ln w="38100" cap="flat" cmpd="sng">
            <a:solidFill>
              <a:srgbClr val="1155CC"/>
            </a:solidFill>
            <a:prstDash val="solid"/>
            <a:round/>
            <a:headEnd type="none" w="sm" len="sm"/>
            <a:tailEnd type="none" w="sm" len="sm"/>
          </a:ln>
        </p:spPr>
      </p:pic>
      <p:sp>
        <p:nvSpPr>
          <p:cNvPr id="93" name="Google Shape;93;p17"/>
          <p:cNvSpPr txBox="1"/>
          <p:nvPr/>
        </p:nvSpPr>
        <p:spPr>
          <a:xfrm>
            <a:off x="8022150" y="4752125"/>
            <a:ext cx="235200" cy="10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94" name="Google Shape;94;p17"/>
          <p:cNvSpPr txBox="1"/>
          <p:nvPr/>
        </p:nvSpPr>
        <p:spPr>
          <a:xfrm>
            <a:off x="8890025" y="4679375"/>
            <a:ext cx="384900" cy="25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dirty="0">
              <a:solidFill>
                <a:schemeClr val="lt1"/>
              </a:solidFill>
            </a:endParaRPr>
          </a:p>
        </p:txBody>
      </p:sp>
      <p:sp>
        <p:nvSpPr>
          <p:cNvPr id="2" name="Slide Number Placeholder 1">
            <a:extLst>
              <a:ext uri="{FF2B5EF4-FFF2-40B4-BE49-F238E27FC236}">
                <a16:creationId xmlns:a16="http://schemas.microsoft.com/office/drawing/2014/main" id="{5DF5AD29-286E-AE8E-0D47-1F8BC6DA782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0" name="Google Shape;100;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u="sng">
                <a:solidFill>
                  <a:srgbClr val="FFFFFF"/>
                </a:solidFill>
              </a:rPr>
              <a:t>Equipment Sales vs Lease:</a:t>
            </a:r>
            <a:endParaRPr u="sng">
              <a:solidFill>
                <a:srgbClr val="FFFFFF"/>
              </a:solidFill>
            </a:endParaRPr>
          </a:p>
        </p:txBody>
      </p:sp>
      <p:sp>
        <p:nvSpPr>
          <p:cNvPr id="101" name="Google Shape;101;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solidFill>
                  <a:schemeClr val="lt1"/>
                </a:solidFill>
              </a:rPr>
              <a:t>This report Tracks orders based on whether the equipment was purchased, leased or both.</a:t>
            </a:r>
            <a:endParaRPr>
              <a:solidFill>
                <a:schemeClr val="lt1"/>
              </a:solidFill>
            </a:endParaRPr>
          </a:p>
          <a:p>
            <a:pPr marL="0" lvl="0" indent="0" algn="ctr" rtl="0">
              <a:spcBef>
                <a:spcPts val="1200"/>
              </a:spcBef>
              <a:spcAft>
                <a:spcPts val="0"/>
              </a:spcAft>
              <a:buNone/>
            </a:pPr>
            <a:r>
              <a:rPr lang="en" u="sng">
                <a:solidFill>
                  <a:schemeClr val="lt1"/>
                </a:solidFill>
              </a:rPr>
              <a:t>Objective:</a:t>
            </a:r>
            <a:endParaRPr u="sng">
              <a:solidFill>
                <a:schemeClr val="lt1"/>
              </a:solidFill>
            </a:endParaRPr>
          </a:p>
          <a:p>
            <a:pPr marL="0" lvl="0" indent="0" algn="ctr" rtl="0">
              <a:spcBef>
                <a:spcPts val="1200"/>
              </a:spcBef>
              <a:spcAft>
                <a:spcPts val="1200"/>
              </a:spcAft>
              <a:buNone/>
            </a:pPr>
            <a:r>
              <a:rPr lang="en">
                <a:solidFill>
                  <a:schemeClr val="lt1"/>
                </a:solidFill>
              </a:rPr>
              <a:t>Determine if clients prefer to lease equipment rather than buying it to help the company determine if selling equipment remains profitable</a:t>
            </a:r>
            <a:endParaRPr>
              <a:solidFill>
                <a:schemeClr val="lt1"/>
              </a:solidFill>
            </a:endParaRPr>
          </a:p>
        </p:txBody>
      </p:sp>
      <p:pic>
        <p:nvPicPr>
          <p:cNvPr id="102" name="Google Shape;102;p18" title="1.png"/>
          <p:cNvPicPr preferRelativeResize="0"/>
          <p:nvPr/>
        </p:nvPicPr>
        <p:blipFill>
          <a:blip r:embed="rId4">
            <a:alphaModFix/>
          </a:blip>
          <a:stretch>
            <a:fillRect/>
          </a:stretch>
        </p:blipFill>
        <p:spPr>
          <a:xfrm>
            <a:off x="311700" y="3244925"/>
            <a:ext cx="2936450" cy="1630150"/>
          </a:xfrm>
          <a:prstGeom prst="rect">
            <a:avLst/>
          </a:prstGeom>
          <a:noFill/>
          <a:ln w="28575" cap="flat" cmpd="sng">
            <a:solidFill>
              <a:srgbClr val="1155CC"/>
            </a:solidFill>
            <a:prstDash val="solid"/>
            <a:round/>
            <a:headEnd type="none" w="sm" len="sm"/>
            <a:tailEnd type="none" w="sm" len="sm"/>
          </a:ln>
        </p:spPr>
      </p:pic>
      <p:sp>
        <p:nvSpPr>
          <p:cNvPr id="103" name="Google Shape;103;p18"/>
          <p:cNvSpPr txBox="1"/>
          <p:nvPr/>
        </p:nvSpPr>
        <p:spPr>
          <a:xfrm>
            <a:off x="8832300" y="4666575"/>
            <a:ext cx="224700" cy="41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dirty="0">
              <a:solidFill>
                <a:schemeClr val="lt1"/>
              </a:solidFill>
            </a:endParaRPr>
          </a:p>
        </p:txBody>
      </p:sp>
      <p:sp>
        <p:nvSpPr>
          <p:cNvPr id="2" name="Slide Number Placeholder 1">
            <a:extLst>
              <a:ext uri="{FF2B5EF4-FFF2-40B4-BE49-F238E27FC236}">
                <a16:creationId xmlns:a16="http://schemas.microsoft.com/office/drawing/2014/main" id="{94B8C580-9B53-952A-4EA0-84859069A0B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pic>
        <p:nvPicPr>
          <p:cNvPr id="4" name="Picture 3">
            <a:extLst>
              <a:ext uri="{FF2B5EF4-FFF2-40B4-BE49-F238E27FC236}">
                <a16:creationId xmlns:a16="http://schemas.microsoft.com/office/drawing/2014/main" id="{3B884D29-EFD3-FC69-7E68-85C312A709E6}"/>
              </a:ext>
            </a:extLst>
          </p:cNvPr>
          <p:cNvPicPr>
            <a:picLocks noChangeAspect="1"/>
          </p:cNvPicPr>
          <p:nvPr/>
        </p:nvPicPr>
        <p:blipFill>
          <a:blip r:embed="rId5"/>
          <a:stretch>
            <a:fillRect/>
          </a:stretch>
        </p:blipFill>
        <p:spPr>
          <a:xfrm>
            <a:off x="5105216" y="3244926"/>
            <a:ext cx="3547164" cy="161509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8"/>
        <p:cNvGrpSpPr/>
        <p:nvPr/>
      </p:nvGrpSpPr>
      <p:grpSpPr>
        <a:xfrm>
          <a:off x="0" y="0"/>
          <a:ext cx="0" cy="0"/>
          <a:chOff x="0" y="0"/>
          <a:chExt cx="0" cy="0"/>
        </a:xfrm>
      </p:grpSpPr>
      <p:sp>
        <p:nvSpPr>
          <p:cNvPr id="109" name="Google Shape;109;p19"/>
          <p:cNvSpPr txBox="1">
            <a:spLocks noGrp="1"/>
          </p:cNvSpPr>
          <p:nvPr>
            <p:ph type="title"/>
          </p:nvPr>
        </p:nvSpPr>
        <p:spPr>
          <a:xfrm>
            <a:off x="311700" y="445025"/>
            <a:ext cx="8520600" cy="572700"/>
          </a:xfrm>
          <a:prstGeom prst="rect">
            <a:avLst/>
          </a:prstGeom>
          <a:no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u="sng">
                <a:solidFill>
                  <a:srgbClr val="FFFFFF"/>
                </a:solidFill>
              </a:rPr>
              <a:t>Trip booking by location:</a:t>
            </a:r>
            <a:endParaRPr u="sng">
              <a:solidFill>
                <a:srgbClr val="FFFFFF"/>
              </a:solidFill>
            </a:endParaRPr>
          </a:p>
        </p:txBody>
      </p:sp>
      <p:sp>
        <p:nvSpPr>
          <p:cNvPr id="110" name="Google Shape;110;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u="sng">
                <a:solidFill>
                  <a:schemeClr val="lt1"/>
                </a:solidFill>
              </a:rPr>
              <a:t>Description:</a:t>
            </a:r>
            <a:endParaRPr u="sng">
              <a:solidFill>
                <a:schemeClr val="lt1"/>
              </a:solidFill>
            </a:endParaRPr>
          </a:p>
          <a:p>
            <a:pPr marL="0" lvl="0" indent="0" algn="ctr" rtl="0">
              <a:spcBef>
                <a:spcPts val="1200"/>
              </a:spcBef>
              <a:spcAft>
                <a:spcPts val="0"/>
              </a:spcAft>
              <a:buNone/>
            </a:pPr>
            <a:r>
              <a:rPr lang="en">
                <a:solidFill>
                  <a:schemeClr val="lt1"/>
                </a:solidFill>
              </a:rPr>
              <a:t>This report show the numbers for each trip location</a:t>
            </a:r>
            <a:endParaRPr>
              <a:solidFill>
                <a:schemeClr val="lt1"/>
              </a:solidFill>
            </a:endParaRPr>
          </a:p>
          <a:p>
            <a:pPr marL="0" lvl="0" indent="0" algn="ctr" rtl="0">
              <a:spcBef>
                <a:spcPts val="1200"/>
              </a:spcBef>
              <a:spcAft>
                <a:spcPts val="0"/>
              </a:spcAft>
              <a:buNone/>
            </a:pPr>
            <a:r>
              <a:rPr lang="en" u="sng">
                <a:solidFill>
                  <a:schemeClr val="lt1"/>
                </a:solidFill>
              </a:rPr>
              <a:t>Objective:</a:t>
            </a:r>
            <a:endParaRPr u="sng">
              <a:solidFill>
                <a:schemeClr val="lt1"/>
              </a:solidFill>
            </a:endParaRPr>
          </a:p>
          <a:p>
            <a:pPr marL="457200" lvl="0" indent="-342900" algn="ctr" rtl="0">
              <a:spcBef>
                <a:spcPts val="1200"/>
              </a:spcBef>
              <a:spcAft>
                <a:spcPts val="0"/>
              </a:spcAft>
              <a:buClr>
                <a:schemeClr val="lt1"/>
              </a:buClr>
              <a:buSzPts val="1800"/>
              <a:buChar char="●"/>
            </a:pPr>
            <a:r>
              <a:rPr lang="en">
                <a:solidFill>
                  <a:schemeClr val="lt1"/>
                </a:solidFill>
                <a:highlight>
                  <a:srgbClr val="1155CC"/>
                </a:highlight>
              </a:rPr>
              <a:t>Identify which places are most popular</a:t>
            </a:r>
            <a:endParaRPr>
              <a:solidFill>
                <a:schemeClr val="lt1"/>
              </a:solidFill>
              <a:highlight>
                <a:srgbClr val="1155CC"/>
              </a:highlight>
            </a:endParaRPr>
          </a:p>
          <a:p>
            <a:pPr marL="457200" lvl="0" indent="-342900" algn="ctr" rtl="0">
              <a:spcBef>
                <a:spcPts val="0"/>
              </a:spcBef>
              <a:spcAft>
                <a:spcPts val="0"/>
              </a:spcAft>
              <a:buClr>
                <a:schemeClr val="lt1"/>
              </a:buClr>
              <a:buSzPts val="1800"/>
              <a:buChar char="●"/>
            </a:pPr>
            <a:r>
              <a:rPr lang="en">
                <a:solidFill>
                  <a:schemeClr val="lt1"/>
                </a:solidFill>
                <a:highlight>
                  <a:srgbClr val="1155CC"/>
                </a:highlight>
              </a:rPr>
              <a:t>Identify locations that may be experiencing a downward trend in bookings</a:t>
            </a:r>
            <a:endParaRPr>
              <a:solidFill>
                <a:schemeClr val="lt1"/>
              </a:solidFill>
              <a:highlight>
                <a:srgbClr val="1155CC"/>
              </a:highlight>
            </a:endParaRPr>
          </a:p>
        </p:txBody>
      </p:sp>
      <p:pic>
        <p:nvPicPr>
          <p:cNvPr id="111" name="Google Shape;111;p19" title="2.png"/>
          <p:cNvPicPr preferRelativeResize="0"/>
          <p:nvPr/>
        </p:nvPicPr>
        <p:blipFill>
          <a:blip r:embed="rId4">
            <a:alphaModFix/>
          </a:blip>
          <a:stretch>
            <a:fillRect/>
          </a:stretch>
        </p:blipFill>
        <p:spPr>
          <a:xfrm>
            <a:off x="311700" y="3318717"/>
            <a:ext cx="3607157" cy="1738100"/>
          </a:xfrm>
          <a:prstGeom prst="rect">
            <a:avLst/>
          </a:prstGeom>
          <a:noFill/>
          <a:ln w="28575" cap="flat" cmpd="sng">
            <a:solidFill>
              <a:srgbClr val="1155CC"/>
            </a:solidFill>
            <a:prstDash val="solid"/>
            <a:round/>
            <a:headEnd type="none" w="sm" len="sm"/>
            <a:tailEnd type="none" w="sm" len="sm"/>
          </a:ln>
        </p:spPr>
      </p:pic>
      <p:sp>
        <p:nvSpPr>
          <p:cNvPr id="112" name="Google Shape;112;p19"/>
          <p:cNvSpPr txBox="1"/>
          <p:nvPr/>
        </p:nvSpPr>
        <p:spPr>
          <a:xfrm>
            <a:off x="8832300" y="4650150"/>
            <a:ext cx="128400" cy="14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dirty="0">
              <a:solidFill>
                <a:schemeClr val="lt1"/>
              </a:solidFill>
            </a:endParaRPr>
          </a:p>
        </p:txBody>
      </p:sp>
      <p:sp>
        <p:nvSpPr>
          <p:cNvPr id="2" name="Slide Number Placeholder 1">
            <a:extLst>
              <a:ext uri="{FF2B5EF4-FFF2-40B4-BE49-F238E27FC236}">
                <a16:creationId xmlns:a16="http://schemas.microsoft.com/office/drawing/2014/main" id="{13FFCE30-4E17-6A40-5A37-BE830FCAFF9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pic>
        <p:nvPicPr>
          <p:cNvPr id="4" name="Picture 3">
            <a:extLst>
              <a:ext uri="{FF2B5EF4-FFF2-40B4-BE49-F238E27FC236}">
                <a16:creationId xmlns:a16="http://schemas.microsoft.com/office/drawing/2014/main" id="{D4B2705B-446C-FEBC-8C7D-A04103B60FBC}"/>
              </a:ext>
            </a:extLst>
          </p:cNvPr>
          <p:cNvPicPr>
            <a:picLocks noChangeAspect="1"/>
          </p:cNvPicPr>
          <p:nvPr/>
        </p:nvPicPr>
        <p:blipFill>
          <a:blip r:embed="rId5"/>
          <a:stretch>
            <a:fillRect/>
          </a:stretch>
        </p:blipFill>
        <p:spPr>
          <a:xfrm>
            <a:off x="4705731" y="3318717"/>
            <a:ext cx="4315427" cy="175116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7"/>
        <p:cNvGrpSpPr/>
        <p:nvPr/>
      </p:nvGrpSpPr>
      <p:grpSpPr>
        <a:xfrm>
          <a:off x="0" y="0"/>
          <a:ext cx="0" cy="0"/>
          <a:chOff x="0" y="0"/>
          <a:chExt cx="0" cy="0"/>
        </a:xfrm>
      </p:grpSpPr>
      <p:sp>
        <p:nvSpPr>
          <p:cNvPr id="118" name="Google Shape;118;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u="sng">
                <a:solidFill>
                  <a:schemeClr val="lt1"/>
                </a:solidFill>
              </a:rPr>
              <a:t>Inventory older than five years:</a:t>
            </a:r>
            <a:endParaRPr u="sng">
              <a:solidFill>
                <a:schemeClr val="lt1"/>
              </a:solidFill>
            </a:endParaRPr>
          </a:p>
        </p:txBody>
      </p:sp>
      <p:sp>
        <p:nvSpPr>
          <p:cNvPr id="119" name="Google Shape;119;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u="sng">
                <a:solidFill>
                  <a:srgbClr val="FFFFFF"/>
                </a:solidFill>
              </a:rPr>
              <a:t>Description:</a:t>
            </a:r>
            <a:endParaRPr u="sng">
              <a:solidFill>
                <a:srgbClr val="FFFFFF"/>
              </a:solidFill>
            </a:endParaRPr>
          </a:p>
          <a:p>
            <a:pPr marL="0" lvl="0" indent="0" algn="ctr" rtl="0">
              <a:spcBef>
                <a:spcPts val="1200"/>
              </a:spcBef>
              <a:spcAft>
                <a:spcPts val="0"/>
              </a:spcAft>
              <a:buNone/>
            </a:pPr>
            <a:r>
              <a:rPr lang="en">
                <a:solidFill>
                  <a:srgbClr val="FFFFFF"/>
                </a:solidFill>
              </a:rPr>
              <a:t>This report list equipments that were acquired more than 5 years ago</a:t>
            </a:r>
            <a:endParaRPr>
              <a:solidFill>
                <a:srgbClr val="FFFFFF"/>
              </a:solidFill>
            </a:endParaRPr>
          </a:p>
          <a:p>
            <a:pPr marL="0" lvl="0" indent="0" algn="ctr" rtl="0">
              <a:spcBef>
                <a:spcPts val="1200"/>
              </a:spcBef>
              <a:spcAft>
                <a:spcPts val="0"/>
              </a:spcAft>
              <a:buNone/>
            </a:pPr>
            <a:r>
              <a:rPr lang="en" u="sng">
                <a:solidFill>
                  <a:srgbClr val="FFFFFF"/>
                </a:solidFill>
              </a:rPr>
              <a:t>Objective:</a:t>
            </a:r>
            <a:endParaRPr u="sng">
              <a:solidFill>
                <a:srgbClr val="FFFFFF"/>
              </a:solidFill>
            </a:endParaRPr>
          </a:p>
          <a:p>
            <a:pPr marL="457200" lvl="0" indent="-342900" algn="ctr" rtl="0">
              <a:spcBef>
                <a:spcPts val="1200"/>
              </a:spcBef>
              <a:spcAft>
                <a:spcPts val="0"/>
              </a:spcAft>
              <a:buClr>
                <a:srgbClr val="FFFFFF"/>
              </a:buClr>
              <a:buSzPts val="1800"/>
              <a:buChar char="●"/>
            </a:pPr>
            <a:r>
              <a:rPr lang="en">
                <a:solidFill>
                  <a:srgbClr val="FFFFFF"/>
                </a:solidFill>
                <a:highlight>
                  <a:srgbClr val="1155CC"/>
                </a:highlight>
              </a:rPr>
              <a:t>Find outdated equipment</a:t>
            </a:r>
            <a:endParaRPr>
              <a:solidFill>
                <a:srgbClr val="FFFFFF"/>
              </a:solidFill>
              <a:highlight>
                <a:srgbClr val="1155CC"/>
              </a:highlight>
            </a:endParaRPr>
          </a:p>
          <a:p>
            <a:pPr marL="457200" lvl="0" indent="-342900" algn="ctr" rtl="0">
              <a:spcBef>
                <a:spcPts val="0"/>
              </a:spcBef>
              <a:spcAft>
                <a:spcPts val="0"/>
              </a:spcAft>
              <a:buClr>
                <a:srgbClr val="FFFFFF"/>
              </a:buClr>
              <a:buSzPts val="1800"/>
              <a:buChar char="●"/>
            </a:pPr>
            <a:r>
              <a:rPr lang="en">
                <a:solidFill>
                  <a:srgbClr val="FFFFFF"/>
                </a:solidFill>
                <a:highlight>
                  <a:srgbClr val="1155CC"/>
                </a:highlight>
              </a:rPr>
              <a:t>Help Decide which items should be replaced or removed</a:t>
            </a:r>
            <a:endParaRPr>
              <a:solidFill>
                <a:srgbClr val="FFFFFF"/>
              </a:solidFill>
              <a:highlight>
                <a:srgbClr val="1155CC"/>
              </a:highlight>
            </a:endParaRPr>
          </a:p>
        </p:txBody>
      </p:sp>
      <p:pic>
        <p:nvPicPr>
          <p:cNvPr id="120" name="Google Shape;120;p20" title="3.png"/>
          <p:cNvPicPr preferRelativeResize="0"/>
          <p:nvPr/>
        </p:nvPicPr>
        <p:blipFill>
          <a:blip r:embed="rId4">
            <a:alphaModFix/>
          </a:blip>
          <a:stretch>
            <a:fillRect/>
          </a:stretch>
        </p:blipFill>
        <p:spPr>
          <a:xfrm>
            <a:off x="304642" y="3368842"/>
            <a:ext cx="3256705" cy="1687975"/>
          </a:xfrm>
          <a:prstGeom prst="rect">
            <a:avLst/>
          </a:prstGeom>
          <a:noFill/>
          <a:ln w="28575" cap="flat" cmpd="sng">
            <a:solidFill>
              <a:srgbClr val="1155CC"/>
            </a:solidFill>
            <a:prstDash val="solid"/>
            <a:round/>
            <a:headEnd type="none" w="sm" len="sm"/>
            <a:tailEnd type="none" w="sm" len="sm"/>
          </a:ln>
        </p:spPr>
      </p:pic>
      <p:sp>
        <p:nvSpPr>
          <p:cNvPr id="121" name="Google Shape;121;p20"/>
          <p:cNvSpPr txBox="1"/>
          <p:nvPr/>
        </p:nvSpPr>
        <p:spPr>
          <a:xfrm>
            <a:off x="8832300" y="4703625"/>
            <a:ext cx="181800" cy="22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dirty="0">
              <a:solidFill>
                <a:srgbClr val="FFFFFF"/>
              </a:solidFill>
            </a:endParaRPr>
          </a:p>
        </p:txBody>
      </p:sp>
      <p:sp>
        <p:nvSpPr>
          <p:cNvPr id="2" name="Slide Number Placeholder 1">
            <a:extLst>
              <a:ext uri="{FF2B5EF4-FFF2-40B4-BE49-F238E27FC236}">
                <a16:creationId xmlns:a16="http://schemas.microsoft.com/office/drawing/2014/main" id="{95DD768C-CF3D-E7DD-FE43-0F7161E2017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pic>
        <p:nvPicPr>
          <p:cNvPr id="4" name="Picture 3">
            <a:extLst>
              <a:ext uri="{FF2B5EF4-FFF2-40B4-BE49-F238E27FC236}">
                <a16:creationId xmlns:a16="http://schemas.microsoft.com/office/drawing/2014/main" id="{3A312FD3-3BBC-5298-69EC-01AC47B0F9E6}"/>
              </a:ext>
            </a:extLst>
          </p:cNvPr>
          <p:cNvPicPr>
            <a:picLocks noChangeAspect="1"/>
          </p:cNvPicPr>
          <p:nvPr/>
        </p:nvPicPr>
        <p:blipFill>
          <a:blip r:embed="rId5"/>
          <a:stretch>
            <a:fillRect/>
          </a:stretch>
        </p:blipFill>
        <p:spPr>
          <a:xfrm>
            <a:off x="4131074" y="3629887"/>
            <a:ext cx="5012926" cy="116588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6"/>
        <p:cNvGrpSpPr/>
        <p:nvPr/>
      </p:nvGrpSpPr>
      <p:grpSpPr>
        <a:xfrm>
          <a:off x="0" y="0"/>
          <a:ext cx="0" cy="0"/>
          <a:chOff x="0" y="0"/>
          <a:chExt cx="0" cy="0"/>
        </a:xfrm>
      </p:grpSpPr>
      <p:sp>
        <p:nvSpPr>
          <p:cNvPr id="127" name="Google Shape;127;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u="sng">
                <a:solidFill>
                  <a:schemeClr val="lt1"/>
                </a:solidFill>
              </a:rPr>
              <a:t>Assumptions Made:</a:t>
            </a:r>
            <a:endParaRPr u="sng">
              <a:solidFill>
                <a:schemeClr val="lt1"/>
              </a:solidFill>
            </a:endParaRPr>
          </a:p>
        </p:txBody>
      </p:sp>
      <p:sp>
        <p:nvSpPr>
          <p:cNvPr id="128" name="Google Shape;128;p2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lnSpcReduction="10000"/>
          </a:bodyPr>
          <a:lstStyle/>
          <a:p>
            <a:pPr marL="457200" lvl="0" indent="-301644" algn="l" rtl="0">
              <a:lnSpc>
                <a:spcPct val="115833"/>
              </a:lnSpc>
              <a:spcBef>
                <a:spcPts val="0"/>
              </a:spcBef>
              <a:spcAft>
                <a:spcPts val="0"/>
              </a:spcAft>
              <a:buClr>
                <a:schemeClr val="lt1"/>
              </a:buClr>
              <a:buSzPct val="100000"/>
              <a:buFont typeface="Aptos"/>
              <a:buChar char="●"/>
            </a:pPr>
            <a:r>
              <a:rPr lang="en-US" sz="1840" dirty="0">
                <a:solidFill>
                  <a:schemeClr val="lt1"/>
                </a:solidFill>
                <a:latin typeface="Aptos"/>
                <a:ea typeface="Aptos"/>
                <a:cs typeface="Aptos"/>
                <a:sym typeface="Aptos"/>
              </a:rPr>
              <a:t>Employees have one defined role</a:t>
            </a:r>
          </a:p>
          <a:p>
            <a:pPr marL="457200" lvl="0" indent="-301644" algn="l" rtl="0">
              <a:lnSpc>
                <a:spcPct val="115833"/>
              </a:lnSpc>
              <a:spcBef>
                <a:spcPts val="0"/>
              </a:spcBef>
              <a:spcAft>
                <a:spcPts val="0"/>
              </a:spcAft>
              <a:buClr>
                <a:schemeClr val="lt1"/>
              </a:buClr>
              <a:buSzPct val="100000"/>
              <a:buFont typeface="Aptos"/>
              <a:buChar char="●"/>
            </a:pPr>
            <a:r>
              <a:rPr lang="en-US" sz="1840" dirty="0">
                <a:solidFill>
                  <a:schemeClr val="lt1"/>
                </a:solidFill>
                <a:latin typeface="Aptos"/>
                <a:ea typeface="Aptos"/>
                <a:cs typeface="Aptos"/>
                <a:sym typeface="Aptos"/>
              </a:rPr>
              <a:t>Trips occur at one location and require at least one guide</a:t>
            </a:r>
          </a:p>
          <a:p>
            <a:pPr marL="457200" lvl="0" indent="-301644" algn="l" rtl="0">
              <a:lnSpc>
                <a:spcPct val="115833"/>
              </a:lnSpc>
              <a:spcBef>
                <a:spcPts val="0"/>
              </a:spcBef>
              <a:spcAft>
                <a:spcPts val="0"/>
              </a:spcAft>
              <a:buClr>
                <a:schemeClr val="lt1"/>
              </a:buClr>
              <a:buSzPct val="100000"/>
              <a:buFont typeface="Aptos"/>
              <a:buChar char="●"/>
            </a:pPr>
            <a:r>
              <a:rPr lang="en-US" sz="1840" dirty="0">
                <a:solidFill>
                  <a:schemeClr val="lt1"/>
                </a:solidFill>
                <a:latin typeface="Aptos"/>
                <a:ea typeface="Aptos"/>
                <a:cs typeface="Aptos"/>
                <a:sym typeface="Aptos"/>
              </a:rPr>
              <a:t>Customers must create an account before booking or ordering</a:t>
            </a:r>
          </a:p>
          <a:p>
            <a:pPr marL="457200" lvl="0" indent="-301644" algn="l" rtl="0">
              <a:lnSpc>
                <a:spcPct val="115833"/>
              </a:lnSpc>
              <a:spcBef>
                <a:spcPts val="0"/>
              </a:spcBef>
              <a:spcAft>
                <a:spcPts val="0"/>
              </a:spcAft>
              <a:buClr>
                <a:schemeClr val="lt1"/>
              </a:buClr>
              <a:buSzPct val="100000"/>
              <a:buFont typeface="Aptos"/>
              <a:buChar char="●"/>
            </a:pPr>
            <a:r>
              <a:rPr lang="en-US" sz="1840" dirty="0">
                <a:solidFill>
                  <a:schemeClr val="lt1"/>
                </a:solidFill>
                <a:latin typeface="Aptos"/>
                <a:ea typeface="Aptos"/>
                <a:cs typeface="Aptos"/>
                <a:sym typeface="Aptos"/>
              </a:rPr>
              <a:t>Bookings link one customer to one trip</a:t>
            </a:r>
          </a:p>
          <a:p>
            <a:pPr marL="457200" lvl="0" indent="-301644" algn="l" rtl="0">
              <a:lnSpc>
                <a:spcPct val="115833"/>
              </a:lnSpc>
              <a:spcBef>
                <a:spcPts val="0"/>
              </a:spcBef>
              <a:spcAft>
                <a:spcPts val="0"/>
              </a:spcAft>
              <a:buClr>
                <a:schemeClr val="lt1"/>
              </a:buClr>
              <a:buSzPct val="100000"/>
              <a:buFont typeface="Aptos"/>
              <a:buChar char="●"/>
            </a:pPr>
            <a:r>
              <a:rPr lang="en-US" sz="1840" dirty="0">
                <a:solidFill>
                  <a:schemeClr val="lt1"/>
                </a:solidFill>
                <a:latin typeface="Aptos"/>
                <a:ea typeface="Aptos"/>
                <a:cs typeface="Aptos"/>
                <a:sym typeface="Aptos"/>
              </a:rPr>
              <a:t>Booking statuses include Pending, Confirmed, Cancelled, Completed</a:t>
            </a:r>
          </a:p>
          <a:p>
            <a:pPr marL="457200" lvl="0" indent="-301644" algn="l" rtl="0">
              <a:lnSpc>
                <a:spcPct val="115833"/>
              </a:lnSpc>
              <a:spcBef>
                <a:spcPts val="0"/>
              </a:spcBef>
              <a:spcAft>
                <a:spcPts val="0"/>
              </a:spcAft>
              <a:buClr>
                <a:schemeClr val="lt1"/>
              </a:buClr>
              <a:buSzPct val="100000"/>
              <a:buFont typeface="Aptos"/>
              <a:buChar char="●"/>
            </a:pPr>
            <a:r>
              <a:rPr lang="en-US" sz="1840" dirty="0">
                <a:solidFill>
                  <a:schemeClr val="lt1"/>
                </a:solidFill>
                <a:latin typeface="Aptos"/>
                <a:ea typeface="Aptos"/>
                <a:cs typeface="Aptos"/>
                <a:sym typeface="Aptos"/>
              </a:rPr>
              <a:t>Products can be rentable, purchasable, or both</a:t>
            </a:r>
          </a:p>
          <a:p>
            <a:pPr marL="457200" lvl="0" indent="-301644" algn="l" rtl="0">
              <a:lnSpc>
                <a:spcPct val="115833"/>
              </a:lnSpc>
              <a:spcBef>
                <a:spcPts val="0"/>
              </a:spcBef>
              <a:spcAft>
                <a:spcPts val="0"/>
              </a:spcAft>
              <a:buClr>
                <a:schemeClr val="lt1"/>
              </a:buClr>
              <a:buSzPct val="100000"/>
              <a:buFont typeface="Aptos"/>
              <a:buChar char="●"/>
            </a:pPr>
            <a:r>
              <a:rPr lang="en-US" sz="1840" dirty="0">
                <a:solidFill>
                  <a:schemeClr val="lt1"/>
                </a:solidFill>
                <a:latin typeface="Aptos"/>
                <a:ea typeface="Aptos"/>
                <a:cs typeface="Aptos"/>
                <a:sym typeface="Aptos"/>
              </a:rPr>
              <a:t>Inventory items are tracked individually by product</a:t>
            </a:r>
          </a:p>
          <a:p>
            <a:pPr marL="457200" lvl="0" indent="-301644" algn="l" rtl="0">
              <a:lnSpc>
                <a:spcPct val="115833"/>
              </a:lnSpc>
              <a:spcBef>
                <a:spcPts val="0"/>
              </a:spcBef>
              <a:spcAft>
                <a:spcPts val="0"/>
              </a:spcAft>
              <a:buClr>
                <a:schemeClr val="lt1"/>
              </a:buClr>
              <a:buSzPct val="100000"/>
              <a:buFont typeface="Aptos"/>
              <a:buChar char="●"/>
            </a:pPr>
            <a:r>
              <a:rPr lang="en-US" sz="1840" dirty="0">
                <a:solidFill>
                  <a:schemeClr val="lt1"/>
                </a:solidFill>
                <a:latin typeface="Aptos"/>
                <a:ea typeface="Aptos"/>
                <a:cs typeface="Aptos"/>
                <a:sym typeface="Aptos"/>
              </a:rPr>
              <a:t>Rental orders require start and end dates</a:t>
            </a:r>
          </a:p>
          <a:p>
            <a:pPr marL="457200" lvl="0" indent="-301644" algn="l" rtl="0">
              <a:lnSpc>
                <a:spcPct val="115833"/>
              </a:lnSpc>
              <a:spcBef>
                <a:spcPts val="0"/>
              </a:spcBef>
              <a:spcAft>
                <a:spcPts val="0"/>
              </a:spcAft>
              <a:buClr>
                <a:schemeClr val="lt1"/>
              </a:buClr>
              <a:buSzPct val="100000"/>
              <a:buFont typeface="Aptos"/>
              <a:buChar char="●"/>
            </a:pPr>
            <a:r>
              <a:rPr lang="en-US" sz="1840" dirty="0">
                <a:solidFill>
                  <a:schemeClr val="lt1"/>
                </a:solidFill>
                <a:latin typeface="Aptos"/>
                <a:ea typeface="Aptos"/>
                <a:cs typeface="Aptos"/>
                <a:sym typeface="Aptos"/>
              </a:rPr>
              <a:t>Orders must include at least one order line</a:t>
            </a:r>
          </a:p>
          <a:p>
            <a:pPr marL="457200" lvl="0" indent="-301644" algn="l" rtl="0">
              <a:lnSpc>
                <a:spcPct val="115833"/>
              </a:lnSpc>
              <a:spcBef>
                <a:spcPts val="0"/>
              </a:spcBef>
              <a:spcAft>
                <a:spcPts val="0"/>
              </a:spcAft>
              <a:buClr>
                <a:schemeClr val="lt1"/>
              </a:buClr>
              <a:buSzPct val="100000"/>
              <a:buFont typeface="Aptos"/>
              <a:buChar char="●"/>
            </a:pPr>
            <a:r>
              <a:rPr lang="en-US" sz="1840" dirty="0">
                <a:solidFill>
                  <a:schemeClr val="lt1"/>
                </a:solidFill>
                <a:latin typeface="Aptos"/>
                <a:ea typeface="Aptos"/>
                <a:cs typeface="Aptos"/>
                <a:sym typeface="Aptos"/>
              </a:rPr>
              <a:t>Customers may have multiple bookings and orders</a:t>
            </a:r>
            <a:endParaRPr dirty="0"/>
          </a:p>
        </p:txBody>
      </p:sp>
      <p:sp>
        <p:nvSpPr>
          <p:cNvPr id="129" name="Google Shape;129;p21"/>
          <p:cNvSpPr txBox="1"/>
          <p:nvPr/>
        </p:nvSpPr>
        <p:spPr>
          <a:xfrm>
            <a:off x="8832300" y="4703625"/>
            <a:ext cx="203100" cy="23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dirty="0">
              <a:solidFill>
                <a:schemeClr val="lt1"/>
              </a:solidFill>
            </a:endParaRPr>
          </a:p>
        </p:txBody>
      </p:sp>
      <p:sp>
        <p:nvSpPr>
          <p:cNvPr id="2" name="Slide Number Placeholder 1">
            <a:extLst>
              <a:ext uri="{FF2B5EF4-FFF2-40B4-BE49-F238E27FC236}">
                <a16:creationId xmlns:a16="http://schemas.microsoft.com/office/drawing/2014/main" id="{1973F039-3C21-9486-E0A7-075AB5FEABF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4"/>
        <p:cNvGrpSpPr/>
        <p:nvPr/>
      </p:nvGrpSpPr>
      <p:grpSpPr>
        <a:xfrm>
          <a:off x="0" y="0"/>
          <a:ext cx="0" cy="0"/>
          <a:chOff x="0" y="0"/>
          <a:chExt cx="0" cy="0"/>
        </a:xfrm>
      </p:grpSpPr>
      <p:sp>
        <p:nvSpPr>
          <p:cNvPr id="135" name="Google Shape;135;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u="sng">
                <a:solidFill>
                  <a:schemeClr val="lt1"/>
                </a:solidFill>
              </a:rPr>
              <a:t>Conclusion:</a:t>
            </a:r>
            <a:endParaRPr u="sng">
              <a:solidFill>
                <a:schemeClr val="lt1"/>
              </a:solidFill>
            </a:endParaRPr>
          </a:p>
        </p:txBody>
      </p:sp>
      <p:sp>
        <p:nvSpPr>
          <p:cNvPr id="136" name="Google Shape;136;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ctr" rtl="0">
              <a:spcBef>
                <a:spcPts val="0"/>
              </a:spcBef>
              <a:spcAft>
                <a:spcPts val="1200"/>
              </a:spcAft>
              <a:buNone/>
            </a:pPr>
            <a:r>
              <a:rPr lang="en">
                <a:solidFill>
                  <a:schemeClr val="lt1"/>
                </a:solidFill>
              </a:rPr>
              <a:t>The database system developed for Outland Adventures offers a structured way to manage trips, equipment, and customer activity. Reports allow owners to analyze equipment sales, track trends by location, and monitor inventory status and age. This information will help them make better operational decisions.</a:t>
            </a:r>
            <a:endParaRPr>
              <a:solidFill>
                <a:schemeClr val="lt1"/>
              </a:solidFill>
            </a:endParaRPr>
          </a:p>
        </p:txBody>
      </p:sp>
      <p:pic>
        <p:nvPicPr>
          <p:cNvPr id="137" name="Google Shape;137;p22" descr="Hardware developer Collect data (Provided by Getty Images)"/>
          <p:cNvPicPr preferRelativeResize="0"/>
          <p:nvPr/>
        </p:nvPicPr>
        <p:blipFill>
          <a:blip r:embed="rId4">
            <a:alphaModFix/>
          </a:blip>
          <a:stretch>
            <a:fillRect/>
          </a:stretch>
        </p:blipFill>
        <p:spPr>
          <a:xfrm>
            <a:off x="2644963" y="2660100"/>
            <a:ext cx="3854075" cy="2053550"/>
          </a:xfrm>
          <a:prstGeom prst="rect">
            <a:avLst/>
          </a:prstGeom>
          <a:noFill/>
          <a:ln w="28575" cap="flat" cmpd="sng">
            <a:solidFill>
              <a:srgbClr val="1155CC"/>
            </a:solidFill>
            <a:prstDash val="solid"/>
            <a:round/>
            <a:headEnd type="none" w="sm" len="sm"/>
            <a:tailEnd type="none" w="sm" len="sm"/>
          </a:ln>
        </p:spPr>
      </p:pic>
      <p:sp>
        <p:nvSpPr>
          <p:cNvPr id="138" name="Google Shape;138;p22"/>
          <p:cNvSpPr txBox="1"/>
          <p:nvPr/>
        </p:nvSpPr>
        <p:spPr>
          <a:xfrm>
            <a:off x="8832300" y="4713650"/>
            <a:ext cx="256800" cy="32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dirty="0">
              <a:solidFill>
                <a:schemeClr val="lt1"/>
              </a:solidFill>
            </a:endParaRPr>
          </a:p>
        </p:txBody>
      </p:sp>
      <p:sp>
        <p:nvSpPr>
          <p:cNvPr id="2" name="Slide Number Placeholder 1">
            <a:extLst>
              <a:ext uri="{FF2B5EF4-FFF2-40B4-BE49-F238E27FC236}">
                <a16:creationId xmlns:a16="http://schemas.microsoft.com/office/drawing/2014/main" id="{8B04F1F2-AD31-B1A4-E6B7-38C44BADD40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TotalTime>
  <Words>485</Words>
  <Application>Microsoft Office PowerPoint</Application>
  <PresentationFormat>On-screen Show (16:9)</PresentationFormat>
  <Paragraphs>73</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Aptos</vt:lpstr>
      <vt:lpstr>Arial</vt:lpstr>
      <vt:lpstr>Simple Light</vt:lpstr>
      <vt:lpstr>Outland Adventures Database Design</vt:lpstr>
      <vt:lpstr>Group Introduction:</vt:lpstr>
      <vt:lpstr>Case Study Overview:</vt:lpstr>
      <vt:lpstr>Business Questions:</vt:lpstr>
      <vt:lpstr>Final ERD:</vt:lpstr>
      <vt:lpstr>Equipment Sales vs Lease:</vt:lpstr>
      <vt:lpstr>Trip booking by location:</vt:lpstr>
      <vt:lpstr>Inventory older than five years:</vt:lpstr>
      <vt:lpstr>Assumptions Made: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Ryan</dc:creator>
  <cp:lastModifiedBy>Ryan Barber</cp:lastModifiedBy>
  <cp:revision>4</cp:revision>
  <dcterms:modified xsi:type="dcterms:W3CDTF">2026-03-16T01:28:27Z</dcterms:modified>
</cp:coreProperties>
</file>